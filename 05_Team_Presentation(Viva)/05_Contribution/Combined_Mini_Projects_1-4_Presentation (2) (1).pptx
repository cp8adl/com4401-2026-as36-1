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914400"/>
            <a:ext cx="2194560" cy="2194560"/>
          </a:xfrm>
          <a:prstGeom prst="ellipse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875520" y="2423160"/>
            <a:ext cx="1234440" cy="1234440"/>
          </a:xfrm>
          <a:prstGeom prst="ellipse">
            <a:avLst/>
          </a:prstGeom>
          <a:solidFill>
            <a:srgbClr val="2F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46720" y="3291840"/>
            <a:ext cx="1005840" cy="1005840"/>
          </a:xfrm>
          <a:prstGeom prst="ellipse">
            <a:avLst/>
          </a:prstGeom>
          <a:solidFill>
            <a:srgbClr val="2F5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005840"/>
            <a:ext cx="749807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800" b="1">
                <a:solidFill>
                  <a:srgbClr val="FFFFFF"/>
                </a:solidFill>
                <a:latin typeface="Aptos"/>
              </a:defRPr>
            </a:pPr>
            <a:r>
              <a:t>MINI PROJECTS</a:t>
            </a:r>
          </a:p>
          <a:p>
            <a:pPr>
              <a:spcAft>
                <a:spcPts val="800"/>
              </a:spcAft>
              <a:defRPr sz="3800" b="1">
                <a:solidFill>
                  <a:srgbClr val="FFFFFF"/>
                </a:solidFill>
                <a:latin typeface="Aptos"/>
              </a:defRPr>
            </a:pPr>
            <a:r>
              <a:t>1–4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337560"/>
            <a:ext cx="68580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 b="1">
                <a:solidFill>
                  <a:srgbClr val="00D2C3"/>
                </a:solidFill>
                <a:latin typeface="Aptos"/>
              </a:defRPr>
            </a:pPr>
            <a:r>
              <a:t>A combined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54880"/>
            <a:ext cx="6858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D2E1EB"/>
                </a:solidFill>
                <a:latin typeface="Aptos"/>
              </a:defRPr>
            </a:pPr>
            <a:r>
              <a:t>Computer hardware • SQL databases • Networking • Cybersecurity awareness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08076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A0B9C8"/>
                </a:solidFill>
                <a:latin typeface="Aptos"/>
              </a:defRPr>
            </a:pPr>
            <a:r>
              <a:t>COM4401 • Team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62642"/>
                </a:solidFill>
                <a:latin typeface="Aptos"/>
              </a:defRPr>
            </a:pPr>
            <a:r>
              <a:t>Presentation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5257800" cy="4526280"/>
          </a:xfrm>
          <a:prstGeom prst="roundRect">
            <a:avLst/>
          </a:prstGeom>
          <a:solidFill>
            <a:srgbClr val="EFF5F8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9191"/>
                </a:solidFill>
                <a:latin typeface="Aptos"/>
              </a:defRPr>
            </a:pPr>
            <a:r>
              <a:t>Project 1 — Computer fundamentals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331720"/>
            <a:ext cx="4709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A3441"/>
                </a:solidFill>
                <a:latin typeface="Aptos"/>
              </a:defRPr>
            </a:pPr>
            <a:r>
              <a:t>• Workstation builds for four job roles</a:t>
            </a:r>
          </a:p>
          <a:p>
            <a:pPr>
              <a:spcAft>
                <a:spcPts val="800"/>
              </a:spcAft>
              <a:defRPr sz="1600" b="0">
                <a:solidFill>
                  <a:srgbClr val="2A3441"/>
                </a:solidFill>
                <a:latin typeface="Aptos"/>
              </a:defRPr>
            </a:pPr>
            <a:r>
              <a:t>• Hardware selection, cost and budget</a:t>
            </a:r>
          </a:p>
          <a:p>
            <a:pPr>
              <a:spcAft>
                <a:spcPts val="800"/>
              </a:spcAft>
              <a:defRPr sz="1600" b="0">
                <a:solidFill>
                  <a:srgbClr val="2A3441"/>
                </a:solidFill>
                <a:latin typeface="Aptos"/>
              </a:defRPr>
            </a:pPr>
            <a:r>
              <a:t>• SQL database design and reporting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08760"/>
            <a:ext cx="5257800" cy="4526280"/>
          </a:xfrm>
          <a:prstGeom prst="roundRect">
            <a:avLst/>
          </a:prstGeom>
          <a:solidFill>
            <a:srgbClr val="EFF5F8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737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9191"/>
                </a:solidFill>
                <a:latin typeface="Aptos"/>
              </a:defRPr>
            </a:pPr>
            <a:r>
              <a:t>Projects 2–4 — Software &amp; security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9672" y="2331720"/>
            <a:ext cx="4709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A3441"/>
                </a:solidFill>
                <a:latin typeface="Aptos"/>
              </a:defRPr>
            </a:pPr>
            <a:r>
              <a:t>• Project 2: Pennine Pizza Works ordering program</a:t>
            </a:r>
          </a:p>
          <a:p>
            <a:pPr>
              <a:spcAft>
                <a:spcPts val="800"/>
              </a:spcAft>
              <a:defRPr sz="1600" b="0">
                <a:solidFill>
                  <a:srgbClr val="2A3441"/>
                </a:solidFill>
                <a:latin typeface="Aptos"/>
              </a:defRPr>
            </a:pPr>
            <a:r>
              <a:t>• Project 3: LAN, IP addressing and connectivity</a:t>
            </a:r>
          </a:p>
          <a:p>
            <a:pPr>
              <a:spcAft>
                <a:spcPts val="800"/>
              </a:spcAft>
              <a:defRPr sz="1600" b="0">
                <a:solidFill>
                  <a:srgbClr val="2A3441"/>
                </a:solidFill>
                <a:latin typeface="Aptos"/>
              </a:defRPr>
            </a:pPr>
            <a:r>
              <a:t>• Project 4: device safety, authentication, public Wi‑Fi and phishing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7382"/>
                </a:solidFill>
                <a:latin typeface="Aptos"/>
              </a:defRPr>
            </a:pPr>
            <a:r>
              <a:t>NORTHWEST ARCHITECTURE STUDIO  •  MINI PROJECTS 1–4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647382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62642"/>
                </a:solidFill>
                <a:latin typeface="Aptos"/>
              </a:defRPr>
            </a:pPr>
            <a:r>
              <a:t>Project 1 | Northwest Architecture Studio Ltd.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9848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2A3441"/>
                </a:solidFill>
                <a:latin typeface="Aptos"/>
              </a:defRPr>
            </a:pPr>
            <a:r>
              <a:t>• Goal: recommend suitable computer workstations for different staff roles.</a:t>
            </a:r>
          </a:p>
          <a:p>
            <a:pPr>
              <a:spcAft>
                <a:spcPts val="800"/>
              </a:spcAft>
              <a:defRPr sz="1900" b="0">
                <a:solidFill>
                  <a:srgbClr val="2A3441"/>
                </a:solidFill>
                <a:latin typeface="Aptos"/>
              </a:defRPr>
            </a:pPr>
            <a:r>
              <a:t>• Roles covered: Administrative Assistant, Project Manager, Architect/CAD Designer and 3D Visualisation Specialist.</a:t>
            </a:r>
          </a:p>
          <a:p>
            <a:pPr>
              <a:spcAft>
                <a:spcPts val="800"/>
              </a:spcAft>
              <a:defRPr sz="1900" b="0">
                <a:solidFill>
                  <a:srgbClr val="2A3441"/>
                </a:solidFill>
                <a:latin typeface="Aptos"/>
              </a:defRPr>
            </a:pPr>
            <a:r>
              <a:t>• Match hardware capability to the work performed while controlling the hardware refresh cost.</a:t>
            </a:r>
          </a:p>
          <a:p>
            <a:pPr>
              <a:spcAft>
                <a:spcPts val="800"/>
              </a:spcAft>
              <a:defRPr sz="1900" b="0">
                <a:solidFill>
                  <a:srgbClr val="2A3441"/>
                </a:solidFill>
                <a:latin typeface="Aptos"/>
              </a:defRPr>
            </a:pPr>
            <a:r>
              <a:t>• SQL tables and queries support the workstation inventory, roles, recommendations and cost summaries.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7382"/>
                </a:solidFill>
                <a:latin typeface="Aptos"/>
              </a:defRPr>
            </a:pPr>
            <a:r>
              <a:t>NORTHWEST ARCHITECTURE STUDIO  •  MINI PROJECTS 1–4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647382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62642"/>
                </a:solidFill>
                <a:latin typeface="Aptos"/>
              </a:defRPr>
            </a:pPr>
            <a:r>
              <a:t>Project 1 | Match the workstation to the role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5257800" cy="4526280"/>
          </a:xfrm>
          <a:prstGeom prst="roundRect">
            <a:avLst/>
          </a:prstGeom>
          <a:solidFill>
            <a:srgbClr val="EFF5F8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9191"/>
                </a:solidFill>
                <a:latin typeface="Aptos"/>
              </a:defRPr>
            </a:pPr>
            <a:r>
              <a:t>Office and coordination roles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331720"/>
            <a:ext cx="4709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A3441"/>
                </a:solidFill>
                <a:latin typeface="Aptos"/>
              </a:defRPr>
            </a:pPr>
            <a:r>
              <a:t>• Administrative Assistant: documents, email, records and video calls.</a:t>
            </a:r>
          </a:p>
          <a:p>
            <a:pPr>
              <a:spcAft>
                <a:spcPts val="800"/>
              </a:spcAft>
              <a:defRPr sz="1600" b="0">
                <a:solidFill>
                  <a:srgbClr val="2A3441"/>
                </a:solidFill>
                <a:latin typeface="Aptos"/>
              </a:defRPr>
            </a:pPr>
            <a:r>
              <a:t>• Project Manager: spreadsheets, reports, schedules, dashboards and meetings.</a:t>
            </a:r>
          </a:p>
          <a:p>
            <a:pPr>
              <a:spcAft>
                <a:spcPts val="800"/>
              </a:spcAft>
              <a:defRPr sz="1600" b="0">
                <a:solidFill>
                  <a:srgbClr val="2A3441"/>
                </a:solidFill>
                <a:latin typeface="Aptos"/>
              </a:defRPr>
            </a:pPr>
            <a:r>
              <a:t>• Priorities: dependable CPU, sufficient RAM, fast SSD, clear display and reliable networking.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08760"/>
            <a:ext cx="5257800" cy="4526280"/>
          </a:xfrm>
          <a:prstGeom prst="roundRect">
            <a:avLst/>
          </a:prstGeom>
          <a:solidFill>
            <a:srgbClr val="EFF5F8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737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9191"/>
                </a:solidFill>
                <a:latin typeface="Aptos"/>
              </a:defRPr>
            </a:pPr>
            <a:r>
              <a:t>Specialist design roles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9672" y="2331720"/>
            <a:ext cx="4709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A3441"/>
                </a:solidFill>
                <a:latin typeface="Aptos"/>
              </a:defRPr>
            </a:pPr>
            <a:r>
              <a:t>• Architect/CAD Designer: CAD and technical design workloads.</a:t>
            </a:r>
          </a:p>
          <a:p>
            <a:pPr>
              <a:spcAft>
                <a:spcPts val="800"/>
              </a:spcAft>
              <a:defRPr sz="1600" b="0">
                <a:solidFill>
                  <a:srgbClr val="2A3441"/>
                </a:solidFill>
                <a:latin typeface="Aptos"/>
              </a:defRPr>
            </a:pPr>
            <a:r>
              <a:t>• 3D Visualisation Specialist: demanding graphics and visualisation tasks.</a:t>
            </a:r>
          </a:p>
          <a:p>
            <a:pPr>
              <a:spcAft>
                <a:spcPts val="800"/>
              </a:spcAft>
              <a:defRPr sz="1600" b="0">
                <a:solidFill>
                  <a:srgbClr val="2A3441"/>
                </a:solidFill>
                <a:latin typeface="Aptos"/>
              </a:defRPr>
            </a:pPr>
            <a:r>
              <a:t>• Priorities: stronger graphics capability, memory and performance appropriate to specialist software.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7382"/>
                </a:solidFill>
                <a:latin typeface="Aptos"/>
              </a:defRPr>
            </a:pPr>
            <a:r>
              <a:t>NORTHWEST ARCHITECTURE STUDIO  •  MINI PROJECTS 1–4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647382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62642"/>
                </a:solidFill>
                <a:latin typeface="Aptos"/>
              </a:defRPr>
            </a:pPr>
            <a:r>
              <a:t>Project 1 | Example hardware choices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5257800" cy="4526280"/>
          </a:xfrm>
          <a:prstGeom prst="roundRect">
            <a:avLst/>
          </a:prstGeom>
          <a:solidFill>
            <a:srgbClr val="EFF5F8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9191"/>
                </a:solidFill>
                <a:latin typeface="Aptos"/>
              </a:defRPr>
            </a:pPr>
            <a:r>
              <a:t>Administrative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331720"/>
            <a:ext cx="4709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A3441"/>
                </a:solidFill>
                <a:latin typeface="Aptos"/>
              </a:defRPr>
            </a:pPr>
            <a:r>
              <a:t>• AMD Ryzen 5 5500 CPU</a:t>
            </a:r>
          </a:p>
          <a:p>
            <a:pPr>
              <a:spcAft>
                <a:spcPts val="800"/>
              </a:spcAft>
              <a:defRPr sz="1600" b="0">
                <a:solidFill>
                  <a:srgbClr val="2A3441"/>
                </a:solidFill>
                <a:latin typeface="Aptos"/>
              </a:defRPr>
            </a:pPr>
            <a:r>
              <a:t>• 16 GB DDR4 RAM; 1 TB NVMe SSD</a:t>
            </a:r>
          </a:p>
          <a:p>
            <a:pPr>
              <a:spcAft>
                <a:spcPts val="800"/>
              </a:spcAft>
              <a:defRPr sz="1600" b="0">
                <a:solidFill>
                  <a:srgbClr val="2A3441"/>
                </a:solidFill>
                <a:latin typeface="Aptos"/>
              </a:defRPr>
            </a:pPr>
            <a:r>
              <a:t>• 27-inch MSI PRO display</a:t>
            </a:r>
          </a:p>
          <a:p>
            <a:pPr>
              <a:spcAft>
                <a:spcPts val="800"/>
              </a:spcAft>
              <a:defRPr sz="1600" b="0">
                <a:solidFill>
                  <a:srgbClr val="2A3441"/>
                </a:solidFill>
                <a:latin typeface="Aptos"/>
              </a:defRPr>
            </a:pPr>
            <a:r>
              <a:t>• Keyboard, mouse and USB headset</a:t>
            </a:r>
          </a:p>
          <a:p>
            <a:pPr>
              <a:spcAft>
                <a:spcPts val="800"/>
              </a:spcAft>
              <a:defRPr sz="1600" b="0">
                <a:solidFill>
                  <a:srgbClr val="2A3441"/>
                </a:solidFill>
                <a:latin typeface="Aptos"/>
              </a:defRPr>
            </a:pPr>
            <a:r>
              <a:t>• Recorded build total: £595.83*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08760"/>
            <a:ext cx="5257800" cy="4526280"/>
          </a:xfrm>
          <a:prstGeom prst="roundRect">
            <a:avLst/>
          </a:prstGeom>
          <a:solidFill>
            <a:srgbClr val="EFF5F8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737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9191"/>
                </a:solidFill>
                <a:latin typeface="Aptos"/>
              </a:defRPr>
            </a:pPr>
            <a:r>
              <a:t>Project Manager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9672" y="2331720"/>
            <a:ext cx="4709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A3441"/>
                </a:solidFill>
                <a:latin typeface="Aptos"/>
              </a:defRPr>
            </a:pPr>
            <a:r>
              <a:t>• AMD Ryzen 7 5700 CPU</a:t>
            </a:r>
          </a:p>
          <a:p>
            <a:pPr>
              <a:spcAft>
                <a:spcPts val="800"/>
              </a:spcAft>
              <a:defRPr sz="1600" b="0">
                <a:solidFill>
                  <a:srgbClr val="2A3441"/>
                </a:solidFill>
                <a:latin typeface="Aptos"/>
              </a:defRPr>
            </a:pPr>
            <a:r>
              <a:t>• 32 GB DDR4 RAM; 1 TB NVMe SSD</a:t>
            </a:r>
          </a:p>
          <a:p>
            <a:pPr>
              <a:spcAft>
                <a:spcPts val="800"/>
              </a:spcAft>
              <a:defRPr sz="1600" b="0">
                <a:solidFill>
                  <a:srgbClr val="2A3441"/>
                </a:solidFill>
                <a:latin typeface="Aptos"/>
              </a:defRPr>
            </a:pPr>
            <a:r>
              <a:t>• GT 1030 graphics card</a:t>
            </a:r>
          </a:p>
          <a:p>
            <a:pPr>
              <a:spcAft>
                <a:spcPts val="800"/>
              </a:spcAft>
              <a:defRPr sz="1600" b="0">
                <a:solidFill>
                  <a:srgbClr val="2A3441"/>
                </a:solidFill>
                <a:latin typeface="Aptos"/>
              </a:defRPr>
            </a:pPr>
            <a:r>
              <a:t>• Ethernet, webcam and headset</a:t>
            </a:r>
          </a:p>
          <a:p>
            <a:pPr>
              <a:spcAft>
                <a:spcPts val="800"/>
              </a:spcAft>
              <a:defRPr sz="1600" b="0">
                <a:solidFill>
                  <a:srgbClr val="2A3441"/>
                </a:solidFill>
                <a:latin typeface="Aptos"/>
              </a:defRPr>
            </a:pPr>
            <a:r>
              <a:t>• Recorded total for 2 units: £1,707.82*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98932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47382"/>
                </a:solidFill>
                <a:latin typeface="Aptos"/>
              </a:defRPr>
            </a:pPr>
            <a:r>
              <a:t>*Prices and totals are reproduced from the supplied project documents; verify component prices and arithmetic before procurement.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7382"/>
                </a:solidFill>
                <a:latin typeface="Aptos"/>
              </a:defRPr>
            </a:pPr>
            <a:r>
              <a:t>NORTHWEST ARCHITECTURE STUDIO  •  MINI PROJECTS 1–4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647382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62642"/>
                </a:solidFill>
                <a:latin typeface="Aptos"/>
              </a:defRPr>
            </a:pPr>
            <a:r>
              <a:t>Project 1 | Specialist workstations and budget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9848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2A3441"/>
                </a:solidFill>
                <a:latin typeface="Aptos"/>
              </a:defRPr>
            </a:pPr>
            <a:r>
              <a:t>• Architect/CAD Designer: documented hardware cost £374.51 per workstation; quantity 5; total £1,872.55.</a:t>
            </a:r>
          </a:p>
          <a:p>
            <a:pPr>
              <a:spcAft>
                <a:spcPts val="800"/>
              </a:spcAft>
              <a:defRPr sz="1900" b="0">
                <a:solidFill>
                  <a:srgbClr val="2A3441"/>
                </a:solidFill>
                <a:latin typeface="Aptos"/>
              </a:defRPr>
            </a:pPr>
            <a:r>
              <a:t>• 3D Visualisation Specialist: £2,290.39 per workstation; quantity 2; total £4,580.78.</a:t>
            </a:r>
          </a:p>
          <a:p>
            <a:pPr>
              <a:spcAft>
                <a:spcPts val="800"/>
              </a:spcAft>
              <a:defRPr sz="1900" b="0">
                <a:solidFill>
                  <a:srgbClr val="2A3441"/>
                </a:solidFill>
                <a:latin typeface="Aptos"/>
              </a:defRPr>
            </a:pPr>
            <a:r>
              <a:t>• Administrative Assistant: recommended quantity 3; team recommendation lists £589.84 each and £1,769.52 total.</a:t>
            </a:r>
          </a:p>
          <a:p>
            <a:pPr>
              <a:spcAft>
                <a:spcPts val="800"/>
              </a:spcAft>
              <a:defRPr sz="1900" b="0">
                <a:solidFill>
                  <a:srgbClr val="2A3441"/>
                </a:solidFill>
                <a:latin typeface="Aptos"/>
              </a:defRPr>
            </a:pPr>
            <a:r>
              <a:t>• Project Manager: quantity 2; £853.91 each and £1,707.82 total.</a:t>
            </a:r>
          </a:p>
          <a:p>
            <a:pPr>
              <a:spcAft>
                <a:spcPts val="800"/>
              </a:spcAft>
              <a:defRPr sz="1900" b="0">
                <a:solidFill>
                  <a:srgbClr val="2A3441"/>
                </a:solidFill>
                <a:latin typeface="Aptos"/>
              </a:defRPr>
            </a:pPr>
            <a:r>
              <a:t>• The team's final summary states a hardware refresh total of £9,930.67 against a £26,000 hardware-only budget.</a:t>
            </a:r>
          </a:p>
          <a:p>
            <a:pPr>
              <a:spcAft>
                <a:spcPts val="800"/>
              </a:spcAft>
              <a:defRPr sz="1900" b="0">
                <a:solidFill>
                  <a:srgbClr val="2A3441"/>
                </a:solidFill>
                <a:latin typeface="Aptos"/>
              </a:defRPr>
            </a:pPr>
            <a:r>
              <a:t>• Note: the Administrative Assistant build list shows a different total (£595.83); reconcile this discrepancy before final purchasing.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7382"/>
                </a:solidFill>
                <a:latin typeface="Aptos"/>
              </a:defRPr>
            </a:pPr>
            <a:r>
              <a:t>NORTHWEST ARCHITECTURE STUDIO  •  MINI PROJECTS 1–4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647382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62642"/>
                </a:solidFill>
                <a:latin typeface="Aptos"/>
              </a:defRPr>
            </a:pPr>
            <a:r>
              <a:t>Project 1 | SQL database and relationships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9848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2A3441"/>
                </a:solidFill>
                <a:latin typeface="Aptos"/>
              </a:defRPr>
            </a:pPr>
            <a:r>
              <a:t>• Database records employee roles, workstation builds, build items and recommendations.</a:t>
            </a:r>
          </a:p>
          <a:p>
            <a:pPr>
              <a:spcAft>
                <a:spcPts val="800"/>
              </a:spcAft>
              <a:defRPr sz="1900" b="0">
                <a:solidFill>
                  <a:srgbClr val="2A3441"/>
                </a:solidFill>
                <a:latin typeface="Aptos"/>
              </a:defRPr>
            </a:pPr>
            <a:r>
              <a:t>• Primary and foreign keys link roles to builds and builds to individual items.</a:t>
            </a:r>
          </a:p>
          <a:p>
            <a:pPr>
              <a:spcAft>
                <a:spcPts val="800"/>
              </a:spcAft>
              <a:defRPr sz="1900" b="0">
                <a:solidFill>
                  <a:srgbClr val="2A3441"/>
                </a:solidFill>
                <a:latin typeface="Aptos"/>
              </a:defRPr>
            </a:pPr>
            <a:r>
              <a:t>• Queries retrieve all roles, role budgets, team sizes, build contents and item counts.</a:t>
            </a:r>
          </a:p>
          <a:p>
            <a:pPr>
              <a:spcAft>
                <a:spcPts val="800"/>
              </a:spcAft>
              <a:defRPr sz="1900" b="0">
                <a:solidFill>
                  <a:srgbClr val="2A3441"/>
                </a:solidFill>
                <a:latin typeface="Aptos"/>
              </a:defRPr>
            </a:pPr>
            <a:r>
              <a:t>• Aggregate queries use SUM and GROUP BY to calculate build and role costs.</a:t>
            </a:r>
          </a:p>
          <a:p>
            <a:pPr>
              <a:spcAft>
                <a:spcPts val="800"/>
              </a:spcAft>
              <a:defRPr sz="1900" b="0">
                <a:solidFill>
                  <a:srgbClr val="2A3441"/>
                </a:solidFill>
                <a:latin typeface="Aptos"/>
              </a:defRPr>
            </a:pPr>
            <a:r>
              <a:t>• JOIN queries combine role, build and item information for cross-table reporting.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7382"/>
                </a:solidFill>
                <a:latin typeface="Aptos"/>
              </a:defRPr>
            </a:pPr>
            <a:r>
              <a:t>NORTHWEST ARCHITECTURE STUDIO  •  MINI PROJECTS 1–4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647382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62642"/>
                </a:solidFill>
                <a:latin typeface="Aptos"/>
              </a:defRPr>
            </a:pPr>
            <a:r>
              <a:t>Project 1 | What the SQL work demonstrates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5257800" cy="4526280"/>
          </a:xfrm>
          <a:prstGeom prst="roundRect">
            <a:avLst/>
          </a:prstGeom>
          <a:solidFill>
            <a:srgbClr val="EFF5F8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9191"/>
                </a:solidFill>
                <a:latin typeface="Aptos"/>
              </a:defRPr>
            </a:pPr>
            <a:r>
              <a:t>Data retrieval and filtering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331720"/>
            <a:ext cx="4709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A3441"/>
                </a:solidFill>
                <a:latin typeface="Aptos"/>
              </a:defRPr>
            </a:pPr>
            <a:r>
              <a:t>• List every role and its details.</a:t>
            </a:r>
          </a:p>
          <a:p>
            <a:pPr>
              <a:spcAft>
                <a:spcPts val="800"/>
              </a:spcAft>
              <a:defRPr sz="1600" b="0">
                <a:solidFill>
                  <a:srgbClr val="2A3441"/>
                </a:solidFill>
                <a:latin typeface="Aptos"/>
              </a:defRPr>
            </a:pPr>
            <a:r>
              <a:t>• Show only role name and budget.</a:t>
            </a:r>
          </a:p>
          <a:p>
            <a:pPr>
              <a:spcAft>
                <a:spcPts val="800"/>
              </a:spcAft>
              <a:defRPr sz="1600" b="0">
                <a:solidFill>
                  <a:srgbClr val="2A3441"/>
                </a:solidFill>
                <a:latin typeface="Aptos"/>
              </a:defRPr>
            </a:pPr>
            <a:r>
              <a:t>• Filter roles with budgets over £1,000 per workstation.</a:t>
            </a:r>
          </a:p>
          <a:p>
            <a:pPr>
              <a:spcAft>
                <a:spcPts val="800"/>
              </a:spcAft>
              <a:defRPr sz="1600" b="0">
                <a:solidFill>
                  <a:srgbClr val="2A3441"/>
                </a:solidFill>
                <a:latin typeface="Aptos"/>
              </a:defRPr>
            </a:pPr>
            <a:r>
              <a:t>• Sort roles by team size.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08760"/>
            <a:ext cx="5257800" cy="4526280"/>
          </a:xfrm>
          <a:prstGeom prst="roundRect">
            <a:avLst/>
          </a:prstGeom>
          <a:solidFill>
            <a:srgbClr val="EFF5F8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737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9191"/>
                </a:solidFill>
                <a:latin typeface="Aptos"/>
              </a:defRPr>
            </a:pPr>
            <a:r>
              <a:t>Summaries and joins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9672" y="2331720"/>
            <a:ext cx="4709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A3441"/>
                </a:solidFill>
                <a:latin typeface="Aptos"/>
              </a:defRPr>
            </a:pPr>
            <a:r>
              <a:t>• Find items for one build and count them.</a:t>
            </a:r>
          </a:p>
          <a:p>
            <a:pPr>
              <a:spcAft>
                <a:spcPts val="800"/>
              </a:spcAft>
              <a:defRPr sz="1600" b="0">
                <a:solidFill>
                  <a:srgbClr val="2A3441"/>
                </a:solidFill>
                <a:latin typeface="Aptos"/>
              </a:defRPr>
            </a:pPr>
            <a:r>
              <a:t>• Calculate total cost per build.</a:t>
            </a:r>
          </a:p>
          <a:p>
            <a:pPr>
              <a:spcAft>
                <a:spcPts val="800"/>
              </a:spcAft>
              <a:defRPr sz="1600" b="0">
                <a:solidFill>
                  <a:srgbClr val="2A3441"/>
                </a:solidFill>
                <a:latin typeface="Aptos"/>
              </a:defRPr>
            </a:pPr>
            <a:r>
              <a:t>• Join build names to their roles.</a:t>
            </a:r>
          </a:p>
          <a:p>
            <a:pPr>
              <a:spcAft>
                <a:spcPts val="800"/>
              </a:spcAft>
              <a:defRPr sz="1600" b="0">
                <a:solidFill>
                  <a:srgbClr val="2A3441"/>
                </a:solidFill>
                <a:latin typeface="Aptos"/>
              </a:defRPr>
            </a:pPr>
            <a:r>
              <a:t>• Sum item costs by role using JOIN, SUM and GROUP BY.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7382"/>
                </a:solidFill>
                <a:latin typeface="Aptos"/>
              </a:defRPr>
            </a:pPr>
            <a:r>
              <a:t>NORTHWEST ARCHITECTURE STUDIO  •  MINI PROJECTS 1–4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647382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62642"/>
                </a:solidFill>
                <a:latin typeface="Aptos"/>
              </a:defRPr>
            </a:pPr>
            <a:r>
              <a:t>Project 2 | Pennine Pizza Works ordering 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9848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2A3441"/>
                </a:solidFill>
                <a:latin typeface="Aptos"/>
              </a:defRPr>
            </a:pPr>
            <a:r>
              <a:t>• Purpose: collect customer details, capture a pizza order and print an itemised bill.</a:t>
            </a:r>
          </a:p>
          <a:p>
            <a:pPr>
              <a:spcAft>
                <a:spcPts val="800"/>
              </a:spcAft>
              <a:defRPr sz="1900" b="0">
                <a:solidFill>
                  <a:srgbClr val="2A3441"/>
                </a:solidFill>
                <a:latin typeface="Aptos"/>
              </a:defRPr>
            </a:pPr>
            <a:r>
              <a:t>• The brief supports orders of 1–7 pizzas, each with a menu choice, size and 1–7 distinct toppings.</a:t>
            </a:r>
          </a:p>
          <a:p>
            <a:pPr>
              <a:spcAft>
                <a:spcPts val="800"/>
              </a:spcAft>
              <a:defRPr sz="1900" b="0">
                <a:solidFill>
                  <a:srgbClr val="2A3441"/>
                </a:solidFill>
                <a:latin typeface="Aptos"/>
              </a:defRPr>
            </a:pPr>
            <a:r>
              <a:t>• The bill includes customer information, pizza count, pizza sizes, toppings, item charges, subtotal, delivery fee and grand total.</a:t>
            </a:r>
          </a:p>
          <a:p>
            <a:pPr>
              <a:spcAft>
                <a:spcPts val="800"/>
              </a:spcAft>
              <a:defRPr sz="1900" b="0">
                <a:solidFill>
                  <a:srgbClr val="2A3441"/>
                </a:solidFill>
                <a:latin typeface="Aptos"/>
              </a:defRPr>
            </a:pPr>
            <a:r>
              <a:t>• Currency is formatted to two decimal places; the solution does not process online payments.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7382"/>
                </a:solidFill>
                <a:latin typeface="Aptos"/>
              </a:defRPr>
            </a:pPr>
            <a:r>
              <a:t>NORTHWEST ARCHITECTURE STUDIO  •  MINI PROJECTS 1–4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647382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62642"/>
                </a:solidFill>
                <a:latin typeface="Aptos"/>
              </a:defRPr>
            </a:pPr>
            <a:r>
              <a:t>Project 2 | Menu and pricing rules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5257800" cy="4526280"/>
          </a:xfrm>
          <a:prstGeom prst="roundRect">
            <a:avLst/>
          </a:prstGeom>
          <a:solidFill>
            <a:srgbClr val="EFF5F8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9191"/>
                </a:solidFill>
                <a:latin typeface="Aptos"/>
              </a:defRPr>
            </a:pPr>
            <a:r>
              <a:t>Pizza size base prices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331720"/>
            <a:ext cx="4709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A3441"/>
                </a:solidFill>
                <a:latin typeface="Aptos"/>
              </a:defRPr>
            </a:pPr>
            <a:r>
              <a:t>• Small — £10.00</a:t>
            </a:r>
          </a:p>
          <a:p>
            <a:pPr>
              <a:spcAft>
                <a:spcPts val="800"/>
              </a:spcAft>
              <a:defRPr sz="1600" b="0">
                <a:solidFill>
                  <a:srgbClr val="2A3441"/>
                </a:solidFill>
                <a:latin typeface="Aptos"/>
              </a:defRPr>
            </a:pPr>
            <a:r>
              <a:t>• Medium — £15.00</a:t>
            </a:r>
          </a:p>
          <a:p>
            <a:pPr>
              <a:spcAft>
                <a:spcPts val="800"/>
              </a:spcAft>
              <a:defRPr sz="1600" b="0">
                <a:solidFill>
                  <a:srgbClr val="2A3441"/>
                </a:solidFill>
                <a:latin typeface="Aptos"/>
              </a:defRPr>
            </a:pPr>
            <a:r>
              <a:t>• Large — £20.00</a:t>
            </a:r>
          </a:p>
          <a:p>
            <a:pPr>
              <a:spcAft>
                <a:spcPts val="800"/>
              </a:spcAft>
              <a:defRPr sz="1600" b="0">
                <a:solidFill>
                  <a:srgbClr val="2A3441"/>
                </a:solidFill>
                <a:latin typeface="Aptos"/>
              </a:defRPr>
            </a:pPr>
            <a:r>
              <a:t>• Choose one size for each pizza.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08760"/>
            <a:ext cx="5257800" cy="4526280"/>
          </a:xfrm>
          <a:prstGeom prst="roundRect">
            <a:avLst/>
          </a:prstGeom>
          <a:solidFill>
            <a:srgbClr val="EFF5F8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737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9191"/>
                </a:solidFill>
                <a:latin typeface="Aptos"/>
              </a:defRPr>
            </a:pPr>
            <a:r>
              <a:t>Topping prices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9672" y="2331720"/>
            <a:ext cx="4709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A3441"/>
                </a:solidFill>
                <a:latin typeface="Aptos"/>
              </a:defRPr>
            </a:pPr>
            <a:r>
              <a:t>• Sausage — £2.00; Chilli — £0.50</a:t>
            </a:r>
          </a:p>
          <a:p>
            <a:pPr>
              <a:spcAft>
                <a:spcPts val="800"/>
              </a:spcAft>
              <a:defRPr sz="1600" b="0">
                <a:solidFill>
                  <a:srgbClr val="2A3441"/>
                </a:solidFill>
                <a:latin typeface="Aptos"/>
              </a:defRPr>
            </a:pPr>
            <a:r>
              <a:t>• Ham — £1.50; Pineapple — £3.30 in the analysis data</a:t>
            </a:r>
          </a:p>
          <a:p>
            <a:pPr>
              <a:spcAft>
                <a:spcPts val="800"/>
              </a:spcAft>
              <a:defRPr sz="1600" b="0">
                <a:solidFill>
                  <a:srgbClr val="2A3441"/>
                </a:solidFill>
                <a:latin typeface="Aptos"/>
              </a:defRPr>
            </a:pPr>
            <a:r>
              <a:t>• Olives — £2.00; Pepperoni — £0.50; Tomatoes — £0.50</a:t>
            </a:r>
          </a:p>
          <a:p>
            <a:pPr>
              <a:spcAft>
                <a:spcPts val="800"/>
              </a:spcAft>
              <a:defRPr sz="1600" b="0">
                <a:solidFill>
                  <a:srgbClr val="2A3441"/>
                </a:solidFill>
                <a:latin typeface="Aptos"/>
              </a:defRPr>
            </a:pPr>
            <a:r>
              <a:t>• The sample run lists pineapple as £3.50; confirm the intended price.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98932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0">
                <a:solidFill>
                  <a:srgbClr val="647382"/>
                </a:solidFill>
                <a:latin typeface="Aptos"/>
              </a:defRPr>
            </a:pPr>
            <a:r>
              <a:t>The source documents contain a pineapple price inconsistency (£3.30 vs £3.50), which should be clarified with the client.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7382"/>
                </a:solidFill>
                <a:latin typeface="Aptos"/>
              </a:defRPr>
            </a:pPr>
            <a:r>
              <a:t>NORTHWEST ARCHITECTURE STUDIO  •  MINI PROJECTS 1–4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647382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62642"/>
                </a:solidFill>
                <a:latin typeface="Aptos"/>
              </a:defRPr>
            </a:pPr>
            <a:r>
              <a:t>Project 2 | Program design and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9848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2A3441"/>
                </a:solidFill>
                <a:latin typeface="Aptos"/>
              </a:defRPr>
            </a:pPr>
            <a:r>
              <a:t>• Main coordinates the process: load menu data → get customer details → select pizzas → calculate costs → display bill.</a:t>
            </a:r>
          </a:p>
          <a:p>
            <a:pPr>
              <a:spcAft>
                <a:spcPts val="800"/>
              </a:spcAft>
              <a:defRPr sz="1900" b="0">
                <a:solidFill>
                  <a:srgbClr val="2A3441"/>
                </a:solidFill>
                <a:latin typeface="Aptos"/>
              </a:defRPr>
            </a:pPr>
            <a:r>
              <a:t>• Reusable functions include CheckBlank, ReadInteger, ShowMenu, ChoosePizzas, CalculateCost, DisplayBill and Money.</a:t>
            </a:r>
          </a:p>
          <a:p>
            <a:pPr>
              <a:spcAft>
                <a:spcPts val="800"/>
              </a:spcAft>
              <a:defRPr sz="1900" b="0">
                <a:solidFill>
                  <a:srgbClr val="2A3441"/>
                </a:solidFill>
                <a:latin typeface="Aptos"/>
              </a:defRPr>
            </a:pPr>
            <a:r>
              <a:t>• Input validation rejects blank customer fields, non-integers and choices outside allowed ranges.</a:t>
            </a:r>
          </a:p>
          <a:p>
            <a:pPr>
              <a:spcAft>
                <a:spcPts val="800"/>
              </a:spcAft>
              <a:defRPr sz="1900" b="0">
                <a:solidFill>
                  <a:srgbClr val="2A3441"/>
                </a:solidFill>
                <a:latin typeface="Aptos"/>
              </a:defRPr>
            </a:pPr>
            <a:r>
              <a:t>• Repeated toppings on the same pizza are rejected to prevent accidental double charging.</a:t>
            </a:r>
          </a:p>
          <a:p>
            <a:pPr>
              <a:spcAft>
                <a:spcPts val="800"/>
              </a:spcAft>
              <a:defRPr sz="1900" b="0">
                <a:solidFill>
                  <a:srgbClr val="2A3441"/>
                </a:solidFill>
                <a:latin typeface="Aptos"/>
              </a:defRPr>
            </a:pPr>
            <a:r>
              <a:t>• Prices are stored as integer pence to avoid floating-point rounding errors.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7382"/>
                </a:solidFill>
                <a:latin typeface="Aptos"/>
              </a:defRPr>
            </a:pPr>
            <a:r>
              <a:t>NORTHWEST ARCHITECTURE STUDIO  •  MINI PROJECTS 1–4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647382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62642"/>
                </a:solidFill>
                <a:latin typeface="Aptos"/>
              </a:defRPr>
            </a:pPr>
            <a:r>
              <a:t>Project 2 | Cost calculation and assumptions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9848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2A3441"/>
                </a:solidFill>
                <a:latin typeface="Aptos"/>
              </a:defRPr>
            </a:pPr>
            <a:r>
              <a:t>• Each pizza cost = size base price + selected topping prices.</a:t>
            </a:r>
          </a:p>
          <a:p>
            <a:pPr>
              <a:spcAft>
                <a:spcPts val="800"/>
              </a:spcAft>
              <a:defRPr sz="1900" b="0">
                <a:solidFill>
                  <a:srgbClr val="2A3441"/>
                </a:solidFill>
                <a:latin typeface="Aptos"/>
              </a:defRPr>
            </a:pPr>
            <a:r>
              <a:t>• Order subtotal = sum of all individual pizza costs.</a:t>
            </a:r>
          </a:p>
          <a:p>
            <a:pPr>
              <a:spcAft>
                <a:spcPts val="800"/>
              </a:spcAft>
              <a:defRPr sz="1900" b="0">
                <a:solidFill>
                  <a:srgbClr val="2A3441"/>
                </a:solidFill>
                <a:latin typeface="Aptos"/>
              </a:defRPr>
            </a:pPr>
            <a:r>
              <a:t>• Delivery fee is assumed to be £0.00 because the brief provides no delivery-charge rule.</a:t>
            </a:r>
          </a:p>
          <a:p>
            <a:pPr>
              <a:spcAft>
                <a:spcPts val="800"/>
              </a:spcAft>
              <a:defRPr sz="1900" b="0">
                <a:solidFill>
                  <a:srgbClr val="2A3441"/>
                </a:solidFill>
                <a:latin typeface="Aptos"/>
              </a:defRPr>
            </a:pPr>
            <a:r>
              <a:t>• No taxes or discounts are applied because no rules were supplied.</a:t>
            </a:r>
          </a:p>
          <a:p>
            <a:pPr>
              <a:spcAft>
                <a:spcPts val="800"/>
              </a:spcAft>
              <a:defRPr sz="1900" b="0">
                <a:solidFill>
                  <a:srgbClr val="2A3441"/>
                </a:solidFill>
                <a:latin typeface="Aptos"/>
              </a:defRPr>
            </a:pPr>
            <a:r>
              <a:t>• Invalid input prompts a helpful error message and asks the user to try again.</a:t>
            </a:r>
          </a:p>
          <a:p>
            <a:pPr>
              <a:spcAft>
                <a:spcPts val="800"/>
              </a:spcAft>
              <a:defRPr sz="1900" b="0">
                <a:solidFill>
                  <a:srgbClr val="2A3441"/>
                </a:solidFill>
                <a:latin typeface="Aptos"/>
              </a:defRPr>
            </a:pPr>
            <a:r>
              <a:t>• Testing should cover minimum/maximum pizza counts, invalid choices, duplicate toppings and correct bill totals.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7382"/>
                </a:solidFill>
                <a:latin typeface="Aptos"/>
              </a:defRPr>
            </a:pPr>
            <a:r>
              <a:t>NORTHWEST ARCHITECTURE STUDIO  •  MINI PROJECTS 1–4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647382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62642"/>
                </a:solidFill>
                <a:latin typeface="Aptos"/>
              </a:defRPr>
            </a:pPr>
            <a:r>
              <a:t>Project 3 | Network model and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9848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2A3441"/>
                </a:solidFill>
                <a:latin typeface="Aptos"/>
              </a:defRPr>
            </a:pPr>
            <a:r>
              <a:t>• Northwest Architecture Studio network model was built and tested in Filius.</a:t>
            </a:r>
          </a:p>
          <a:p>
            <a:pPr>
              <a:spcAft>
                <a:spcPts val="800"/>
              </a:spcAft>
              <a:defRPr sz="1900" b="0">
                <a:solidFill>
                  <a:srgbClr val="2A3441"/>
                </a:solidFill>
                <a:latin typeface="Aptos"/>
              </a:defRPr>
            </a:pPr>
            <a:r>
              <a:t>• The model covers office LAN devices, servers, DNS, switches, a router, gateway and external network access.</a:t>
            </a:r>
          </a:p>
          <a:p>
            <a:pPr>
              <a:spcAft>
                <a:spcPts val="800"/>
              </a:spcAft>
              <a:defRPr sz="1900" b="0">
                <a:solidFill>
                  <a:srgbClr val="2A3441"/>
                </a:solidFill>
                <a:latin typeface="Aptos"/>
              </a:defRPr>
            </a:pPr>
            <a:r>
              <a:t>• The aim is to understand addressing, name resolution and how devices communicate inside and outside the office.</a:t>
            </a:r>
          </a:p>
          <a:p>
            <a:pPr>
              <a:spcAft>
                <a:spcPts val="800"/>
              </a:spcAft>
              <a:defRPr sz="1900" b="0">
                <a:solidFill>
                  <a:srgbClr val="2A3441"/>
                </a:solidFill>
                <a:latin typeface="Aptos"/>
              </a:defRPr>
            </a:pPr>
            <a:r>
              <a:t>• Ping/ICMP tests are used to check whether hosts respond and to observe connectivity or packet loss.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7382"/>
                </a:solidFill>
                <a:latin typeface="Aptos"/>
              </a:defRPr>
            </a:pPr>
            <a:r>
              <a:t>NORTHWEST ARCHITECTURE STUDIO  •  MINI PROJECTS 1–4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647382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62642"/>
                </a:solidFill>
                <a:latin typeface="Aptos"/>
              </a:defRPr>
            </a:pPr>
            <a:r>
              <a:t>Project 3 | Key networking concepts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5257800" cy="4526280"/>
          </a:xfrm>
          <a:prstGeom prst="roundRect">
            <a:avLst/>
          </a:prstGeom>
          <a:solidFill>
            <a:srgbClr val="EFF5F8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9191"/>
                </a:solidFill>
                <a:latin typeface="Aptos"/>
              </a:defRPr>
            </a:pPr>
            <a:r>
              <a:t>LAN equipment and routing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331720"/>
            <a:ext cx="4709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A3441"/>
                </a:solidFill>
                <a:latin typeface="Aptos"/>
              </a:defRPr>
            </a:pPr>
            <a:r>
              <a:t>• A switch connects devices within the same LAN (Layer 2).</a:t>
            </a:r>
          </a:p>
          <a:p>
            <a:pPr>
              <a:spcAft>
                <a:spcPts val="800"/>
              </a:spcAft>
              <a:defRPr sz="1600" b="0">
                <a:solidFill>
                  <a:srgbClr val="2A3441"/>
                </a:solidFill>
                <a:latin typeface="Aptos"/>
              </a:defRPr>
            </a:pPr>
            <a:r>
              <a:t>• A router forwards packets between networks using IP addresses (Layer 3).</a:t>
            </a:r>
          </a:p>
          <a:p>
            <a:pPr>
              <a:spcAft>
                <a:spcPts val="800"/>
              </a:spcAft>
              <a:defRPr sz="1600" b="0">
                <a:solidFill>
                  <a:srgbClr val="2A3441"/>
                </a:solidFill>
                <a:latin typeface="Aptos"/>
              </a:defRPr>
            </a:pPr>
            <a:r>
              <a:t>• A gateway is the route a client uses to reach destinations beyond its local network.</a:t>
            </a:r>
          </a:p>
          <a:p>
            <a:pPr>
              <a:spcAft>
                <a:spcPts val="800"/>
              </a:spcAft>
              <a:defRPr sz="1600" b="0">
                <a:solidFill>
                  <a:srgbClr val="2A3441"/>
                </a:solidFill>
                <a:latin typeface="Aptos"/>
              </a:defRPr>
            </a:pPr>
            <a:r>
              <a:t>• NAT maps private internal addresses to a public address for external communication.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08760"/>
            <a:ext cx="5257800" cy="4526280"/>
          </a:xfrm>
          <a:prstGeom prst="roundRect">
            <a:avLst/>
          </a:prstGeom>
          <a:solidFill>
            <a:srgbClr val="EFF5F8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737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9191"/>
                </a:solidFill>
                <a:latin typeface="Aptos"/>
              </a:defRPr>
            </a:pPr>
            <a:r>
              <a:t>Addressing and services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9672" y="2331720"/>
            <a:ext cx="4709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A3441"/>
                </a:solidFill>
                <a:latin typeface="Aptos"/>
              </a:defRPr>
            </a:pPr>
            <a:r>
              <a:t>• An IP address identifies a network interface and helps deliver packets.</a:t>
            </a:r>
          </a:p>
          <a:p>
            <a:pPr>
              <a:spcAft>
                <a:spcPts val="800"/>
              </a:spcAft>
              <a:defRPr sz="1600" b="0">
                <a:solidFill>
                  <a:srgbClr val="2A3441"/>
                </a:solidFill>
                <a:latin typeface="Aptos"/>
              </a:defRPr>
            </a:pPr>
            <a:r>
              <a:t>• DNS translates human-readable domain names into IP addresses.</a:t>
            </a:r>
          </a:p>
          <a:p>
            <a:pPr>
              <a:spcAft>
                <a:spcPts val="800"/>
              </a:spcAft>
              <a:defRPr sz="1600" b="0">
                <a:solidFill>
                  <a:srgbClr val="2A3441"/>
                </a:solidFill>
                <a:latin typeface="Aptos"/>
              </a:defRPr>
            </a:pPr>
            <a:r>
              <a:t>• Client-server architecture: a client requests a resource; a server responds.</a:t>
            </a:r>
          </a:p>
          <a:p>
            <a:pPr>
              <a:spcAft>
                <a:spcPts val="800"/>
              </a:spcAft>
              <a:defRPr sz="1600" b="0">
                <a:solidFill>
                  <a:srgbClr val="2A3441"/>
                </a:solidFill>
                <a:latin typeface="Aptos"/>
              </a:defRPr>
            </a:pPr>
            <a:r>
              <a:t>• HTTP and SQL are examples of application-layer protocols referenced in the project.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7382"/>
                </a:solidFill>
                <a:latin typeface="Aptos"/>
              </a:defRPr>
            </a:pPr>
            <a:r>
              <a:t>NORTHWEST ARCHITECTURE STUDIO  •  MINI PROJECTS 1–4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647382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62642"/>
                </a:solidFill>
                <a:latin typeface="Aptos"/>
              </a:defRPr>
            </a:pPr>
            <a:r>
              <a:t>Project 3 | Connectivity tests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9848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2A3441"/>
                </a:solidFill>
                <a:latin typeface="Aptos"/>
              </a:defRPr>
            </a:pPr>
            <a:r>
              <a:t>• The documented tests include LAN PC-to-PC, PC-to-office-server and PC-to-DNS-server.</a:t>
            </a:r>
          </a:p>
          <a:p>
            <a:pPr>
              <a:spcAft>
                <a:spcPts val="800"/>
              </a:spcAft>
              <a:defRPr sz="1900" b="0">
                <a:solidFill>
                  <a:srgbClr val="2A3441"/>
                </a:solidFill>
                <a:latin typeface="Aptos"/>
              </a:defRPr>
            </a:pPr>
            <a:r>
              <a:t>• The model also tests internal web access by IP and by name.</a:t>
            </a:r>
          </a:p>
          <a:p>
            <a:pPr>
              <a:spcAft>
                <a:spcPts val="800"/>
              </a:spcAft>
              <a:defRPr sz="1900" b="0">
                <a:solidFill>
                  <a:srgbClr val="2A3441"/>
                </a:solidFill>
                <a:latin typeface="Aptos"/>
              </a:defRPr>
            </a:pPr>
            <a:r>
              <a:t>• External server ping and external web access by IP and by name are included.</a:t>
            </a:r>
          </a:p>
          <a:p>
            <a:pPr>
              <a:spcAft>
                <a:spcPts val="800"/>
              </a:spcAft>
              <a:defRPr sz="1900" b="0">
                <a:solidFill>
                  <a:srgbClr val="2A3441"/>
                </a:solidFill>
                <a:latin typeface="Aptos"/>
              </a:defRPr>
            </a:pPr>
            <a:r>
              <a:t>• Comparing IP-based and name-based tests helps distinguish basic reachability from DNS/name-resolution issues.</a:t>
            </a:r>
          </a:p>
          <a:p>
            <a:pPr>
              <a:spcAft>
                <a:spcPts val="800"/>
              </a:spcAft>
              <a:defRPr sz="1900" b="0">
                <a:solidFill>
                  <a:srgbClr val="2A3441"/>
                </a:solidFill>
                <a:latin typeface="Aptos"/>
              </a:defRPr>
            </a:pPr>
            <a:r>
              <a:t>• The project includes an IP address table and a diagram of the Filius network.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7382"/>
                </a:solidFill>
                <a:latin typeface="Aptos"/>
              </a:defRPr>
            </a:pPr>
            <a:r>
              <a:t>NORTHWEST ARCHITECTURE STUDIO  •  MINI PROJECTS 1–4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647382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62642"/>
                </a:solidFill>
                <a:latin typeface="Aptos"/>
              </a:defRPr>
            </a:pPr>
            <a:r>
              <a:t>Project 4 | Safe use of electronic devices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9848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2A3441"/>
                </a:solidFill>
                <a:latin typeface="Aptos"/>
              </a:defRPr>
            </a:pPr>
            <a:r>
              <a:t>• Devices bring benefits for communication, learning, work and entertainment, but unsafe use can create electrical, fire, physical, ergonomic, hearing, privacy and cybersecurity risks.</a:t>
            </a:r>
          </a:p>
          <a:p>
            <a:pPr>
              <a:spcAft>
                <a:spcPts val="800"/>
              </a:spcAft>
              <a:defRPr sz="1900" b="0">
                <a:solidFill>
                  <a:srgbClr val="2A3441"/>
                </a:solidFill>
                <a:latin typeface="Aptos"/>
              </a:defRPr>
            </a:pPr>
            <a:r>
              <a:t>• Inspect plugs, cables, chargers and sockets; stop using equipment with burn marks, sparks, unusual heat, smells or damaged cables.</a:t>
            </a:r>
          </a:p>
          <a:p>
            <a:pPr>
              <a:spcAft>
                <a:spcPts val="800"/>
              </a:spcAft>
              <a:defRPr sz="1900" b="0">
                <a:solidFill>
                  <a:srgbClr val="2A3441"/>
                </a:solidFill>
                <a:latin typeface="Aptos"/>
              </a:defRPr>
            </a:pPr>
            <a:r>
              <a:t>• Use compatible chargers and charge batteries on a hard, flat surface away from bedding and water.</a:t>
            </a:r>
          </a:p>
          <a:p>
            <a:pPr>
              <a:spcAft>
                <a:spcPts val="800"/>
              </a:spcAft>
              <a:defRPr sz="1900" b="0">
                <a:solidFill>
                  <a:srgbClr val="2A3441"/>
                </a:solidFill>
                <a:latin typeface="Aptos"/>
              </a:defRPr>
            </a:pPr>
            <a:r>
              <a:t>• Do not use swollen, leaking, smoking or abnormally hot batteries.</a:t>
            </a:r>
          </a:p>
          <a:p>
            <a:pPr>
              <a:spcAft>
                <a:spcPts val="800"/>
              </a:spcAft>
              <a:defRPr sz="1900" b="0">
                <a:solidFill>
                  <a:srgbClr val="2A3441"/>
                </a:solidFill>
                <a:latin typeface="Aptos"/>
              </a:defRPr>
            </a:pPr>
            <a:r>
              <a:t>• Set up screens and workstations ergonomically, take short frequent breaks and protect hearing at high headphone volumes.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7382"/>
                </a:solidFill>
                <a:latin typeface="Aptos"/>
              </a:defRPr>
            </a:pPr>
            <a:r>
              <a:t>NORTHWEST ARCHITECTURE STUDIO  •  MINI PROJECTS 1–4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647382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62642"/>
                </a:solidFill>
                <a:latin typeface="Aptos"/>
              </a:defRPr>
            </a:pPr>
            <a:r>
              <a:t>Project 4 | Authentication: MFA and 2FA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5257800" cy="4526280"/>
          </a:xfrm>
          <a:prstGeom prst="roundRect">
            <a:avLst/>
          </a:prstGeom>
          <a:solidFill>
            <a:srgbClr val="EFF5F8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9191"/>
                </a:solidFill>
                <a:latin typeface="Aptos"/>
              </a:defRPr>
            </a:pPr>
            <a:r>
              <a:t>Authentication factors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331720"/>
            <a:ext cx="4709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A3441"/>
                </a:solidFill>
                <a:latin typeface="Aptos"/>
              </a:defRPr>
            </a:pPr>
            <a:r>
              <a:t>• Something you know: password, passphrase or PIN.</a:t>
            </a:r>
          </a:p>
          <a:p>
            <a:pPr>
              <a:spcAft>
                <a:spcPts val="800"/>
              </a:spcAft>
              <a:defRPr sz="1600" b="0">
                <a:solidFill>
                  <a:srgbClr val="2A3441"/>
                </a:solidFill>
                <a:latin typeface="Aptos"/>
              </a:defRPr>
            </a:pPr>
            <a:r>
              <a:t>• Something you have: device or physical security key.</a:t>
            </a:r>
          </a:p>
          <a:p>
            <a:pPr>
              <a:spcAft>
                <a:spcPts val="800"/>
              </a:spcAft>
              <a:defRPr sz="1600" b="0">
                <a:solidFill>
                  <a:srgbClr val="2A3441"/>
                </a:solidFill>
                <a:latin typeface="Aptos"/>
              </a:defRPr>
            </a:pPr>
            <a:r>
              <a:t>• Something you are: fingerprint or facial recognition.</a:t>
            </a:r>
          </a:p>
          <a:p>
            <a:pPr>
              <a:spcAft>
                <a:spcPts val="800"/>
              </a:spcAft>
              <a:defRPr sz="1600" b="0">
                <a:solidFill>
                  <a:srgbClr val="2A3441"/>
                </a:solidFill>
                <a:latin typeface="Aptos"/>
              </a:defRPr>
            </a:pPr>
            <a:r>
              <a:t>• 2FA uses two distinct authentication factors; MFA adds more than one factor.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508760"/>
            <a:ext cx="5257800" cy="4526280"/>
          </a:xfrm>
          <a:prstGeom prst="roundRect">
            <a:avLst/>
          </a:prstGeom>
          <a:solidFill>
            <a:srgbClr val="EFF5F8"/>
          </a:solidFill>
          <a:ln>
            <a:solidFill>
              <a:srgbClr val="DCE6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737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009191"/>
                </a:solidFill>
                <a:latin typeface="Aptos"/>
              </a:defRPr>
            </a:pPr>
            <a:r>
              <a:t>Strengths and limitations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9672" y="2331720"/>
            <a:ext cx="47091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A3441"/>
                </a:solidFill>
                <a:latin typeface="Aptos"/>
              </a:defRPr>
            </a:pPr>
            <a:r>
              <a:t>• MFA substantially reduces account takeover risk compared with passwords alone.</a:t>
            </a:r>
          </a:p>
          <a:p>
            <a:pPr>
              <a:spcAft>
                <a:spcPts val="800"/>
              </a:spcAft>
              <a:defRPr sz="1600" b="0">
                <a:solidFill>
                  <a:srgbClr val="2A3441"/>
                </a:solidFill>
                <a:latin typeface="Aptos"/>
              </a:defRPr>
            </a:pPr>
            <a:r>
              <a:t>• Traditional SMS codes and OTPs can be vulnerable to phishing and SIM-swapping.</a:t>
            </a:r>
          </a:p>
          <a:p>
            <a:pPr>
              <a:spcAft>
                <a:spcPts val="800"/>
              </a:spcAft>
              <a:defRPr sz="1600" b="0">
                <a:solidFill>
                  <a:srgbClr val="2A3441"/>
                </a:solidFill>
                <a:latin typeface="Aptos"/>
              </a:defRPr>
            </a:pPr>
            <a:r>
              <a:t>• Passkeys and FIDO2 security keys provide stronger phishing resistance by binding authentication to the legitimate website.</a:t>
            </a:r>
          </a:p>
          <a:p>
            <a:pPr>
              <a:spcAft>
                <a:spcPts val="800"/>
              </a:spcAft>
              <a:defRPr sz="1600" b="0">
                <a:solidFill>
                  <a:srgbClr val="2A3441"/>
                </a:solidFill>
                <a:latin typeface="Aptos"/>
              </a:defRPr>
            </a:pPr>
            <a:r>
              <a:t>• Device protection and account recovery still matter.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7382"/>
                </a:solidFill>
                <a:latin typeface="Aptos"/>
              </a:defRPr>
            </a:pPr>
            <a:r>
              <a:t>NORTHWEST ARCHITECTURE STUDIO  •  MINI PROJECTS 1–4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647382"/>
                </a:solidFill>
                <a:latin typeface="Aptos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62642"/>
                </a:solidFill>
                <a:latin typeface="Aptos"/>
              </a:defRPr>
            </a:pPr>
            <a:r>
              <a:t>Project 4 | Public Wi‑Fi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9848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2A3441"/>
                </a:solidFill>
                <a:latin typeface="Aptos"/>
              </a:defRPr>
            </a:pPr>
            <a:r>
              <a:t>• Threats include man-in-the-middle attacks, fake “evil twin” hotspots, packet sniffing, phishing and malicious captive portals.</a:t>
            </a:r>
          </a:p>
          <a:p>
            <a:pPr>
              <a:spcAft>
                <a:spcPts val="800"/>
              </a:spcAft>
              <a:defRPr sz="1900" b="0">
                <a:solidFill>
                  <a:srgbClr val="2A3441"/>
                </a:solidFill>
                <a:latin typeface="Aptos"/>
              </a:defRPr>
            </a:pPr>
            <a:r>
              <a:t>• Possible consequences: account compromise, identity theft, financial fraud and exposure of organisational data.</a:t>
            </a:r>
          </a:p>
          <a:p>
            <a:pPr>
              <a:spcAft>
                <a:spcPts val="800"/>
              </a:spcAft>
              <a:defRPr sz="1900" b="0">
                <a:solidFill>
                  <a:srgbClr val="2A3441"/>
                </a:solidFill>
                <a:latin typeface="Aptos"/>
              </a:defRPr>
            </a:pPr>
            <a:r>
              <a:t>• Verify the network name with staff before connecting and check website addresses and HTTPS warnings.</a:t>
            </a:r>
          </a:p>
          <a:p>
            <a:pPr>
              <a:spcAft>
                <a:spcPts val="800"/>
              </a:spcAft>
              <a:defRPr sz="1900" b="0">
                <a:solidFill>
                  <a:srgbClr val="2A3441"/>
                </a:solidFill>
                <a:latin typeface="Aptos"/>
              </a:defRPr>
            </a:pPr>
            <a:r>
              <a:t>• Keep operating systems, browsers and apps updated; disable automatic connection to unknown hotspots.</a:t>
            </a:r>
          </a:p>
          <a:p>
            <a:pPr>
              <a:spcAft>
                <a:spcPts val="800"/>
              </a:spcAft>
              <a:defRPr sz="1900" b="0">
                <a:solidFill>
                  <a:srgbClr val="2A3441"/>
                </a:solidFill>
                <a:latin typeface="Aptos"/>
              </a:defRPr>
            </a:pPr>
            <a:r>
              <a:t>• A reputable VPN can add protection on untrusted networks but does not prevent phishing or malware.</a:t>
            </a:r>
          </a:p>
          <a:p>
            <a:pPr>
              <a:spcAft>
                <a:spcPts val="800"/>
              </a:spcAft>
              <a:defRPr sz="1900" b="0">
                <a:solidFill>
                  <a:srgbClr val="2A3441"/>
                </a:solidFill>
                <a:latin typeface="Aptos"/>
              </a:defRPr>
            </a:pPr>
            <a:r>
              <a:t>• For sensitive tasks, consider mobile data or a personal hotspot instead.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7382"/>
                </a:solidFill>
                <a:latin typeface="Aptos"/>
              </a:defRPr>
            </a:pPr>
            <a:r>
              <a:t>NORTHWEST ARCHITECTURE STUDIO  •  MINI PROJECTS 1–4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647382"/>
                </a:solidFill>
                <a:latin typeface="Aptos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62642"/>
                </a:solidFill>
                <a:latin typeface="Aptos"/>
              </a:defRPr>
            </a:pPr>
            <a:r>
              <a:t>Project 4 | Phishing awareness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9848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2A3441"/>
                </a:solidFill>
                <a:latin typeface="Aptos"/>
              </a:defRPr>
            </a:pPr>
            <a:r>
              <a:t>• Phishing messages imitate trusted organisations to persuade people to disclose credentials, open harmful links or provide information.</a:t>
            </a:r>
          </a:p>
          <a:p>
            <a:pPr>
              <a:spcAft>
                <a:spcPts val="800"/>
              </a:spcAft>
              <a:defRPr sz="1900" b="0">
                <a:solidFill>
                  <a:srgbClr val="2A3441"/>
                </a:solidFill>
                <a:latin typeface="Aptos"/>
              </a:defRPr>
            </a:pPr>
            <a:r>
              <a:t>• Check the sender and domain carefully; be suspicious of urgency, unexpected attachments and requests to bypass normal processes.</a:t>
            </a:r>
          </a:p>
          <a:p>
            <a:pPr>
              <a:spcAft>
                <a:spcPts val="800"/>
              </a:spcAft>
              <a:defRPr sz="1900" b="0">
                <a:solidFill>
                  <a:srgbClr val="2A3441"/>
                </a:solidFill>
                <a:latin typeface="Aptos"/>
              </a:defRPr>
            </a:pPr>
            <a:r>
              <a:t>• Do not enter passwords after following an unexpected link; navigate to the official service independently.</a:t>
            </a:r>
          </a:p>
          <a:p>
            <a:pPr>
              <a:spcAft>
                <a:spcPts val="800"/>
              </a:spcAft>
              <a:defRPr sz="1900" b="0">
                <a:solidFill>
                  <a:srgbClr val="2A3441"/>
                </a:solidFill>
                <a:latin typeface="Aptos"/>
              </a:defRPr>
            </a:pPr>
            <a:r>
              <a:t>• Report suspicious emails or messages through the organisation’s agreed process.</a:t>
            </a:r>
          </a:p>
          <a:p>
            <a:pPr>
              <a:spcAft>
                <a:spcPts val="800"/>
              </a:spcAft>
              <a:defRPr sz="1900" b="0">
                <a:solidFill>
                  <a:srgbClr val="2A3441"/>
                </a:solidFill>
                <a:latin typeface="Aptos"/>
              </a:defRPr>
            </a:pPr>
            <a:r>
              <a:t>• The source project also covers related scams such as business email compromise and smishing (SMS phishing).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7382"/>
                </a:solidFill>
                <a:latin typeface="Aptos"/>
              </a:defRPr>
            </a:pPr>
            <a:r>
              <a:t>NORTHWEST ARCHITECTURE STUDIO  •  MINI PROJECTS 1–4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647382"/>
                </a:solidFill>
                <a:latin typeface="Aptos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62642"/>
                </a:solidFill>
                <a:latin typeface="Aptos"/>
              </a:defRPr>
            </a:pPr>
            <a:r>
              <a:t>Combined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9848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2A3441"/>
                </a:solidFill>
                <a:latin typeface="Aptos"/>
              </a:defRPr>
            </a:pPr>
            <a:r>
              <a:t>• Hardware: confirm component compatibility, current prices and role requirements before purchasing.</a:t>
            </a:r>
          </a:p>
          <a:p>
            <a:pPr>
              <a:spcAft>
                <a:spcPts val="800"/>
              </a:spcAft>
              <a:defRPr sz="1900" b="0">
                <a:solidFill>
                  <a:srgbClr val="2A3441"/>
                </a:solidFill>
                <a:latin typeface="Aptos"/>
              </a:defRPr>
            </a:pPr>
            <a:r>
              <a:t>• Database: maintain accurate keys and relationships; use queries to support transparent cost reporting.</a:t>
            </a:r>
          </a:p>
          <a:p>
            <a:pPr>
              <a:spcAft>
                <a:spcPts val="800"/>
              </a:spcAft>
              <a:defRPr sz="1900" b="0">
                <a:solidFill>
                  <a:srgbClr val="2A3441"/>
                </a:solidFill>
                <a:latin typeface="Aptos"/>
              </a:defRPr>
            </a:pPr>
            <a:r>
              <a:t>• Ordering software: confirm ambiguous business rules, especially delivery fees and the pineapple topping price, then test boundary and error cases.</a:t>
            </a:r>
          </a:p>
          <a:p>
            <a:pPr>
              <a:spcAft>
                <a:spcPts val="800"/>
              </a:spcAft>
              <a:defRPr sz="1900" b="0">
                <a:solidFill>
                  <a:srgbClr val="2A3441"/>
                </a:solidFill>
                <a:latin typeface="Aptos"/>
              </a:defRPr>
            </a:pPr>
            <a:r>
              <a:t>• Networking: document IP addressing and verify DNS, internal and external connectivity separately.</a:t>
            </a:r>
          </a:p>
          <a:p>
            <a:pPr>
              <a:spcAft>
                <a:spcPts val="800"/>
              </a:spcAft>
              <a:defRPr sz="1900" b="0">
                <a:solidFill>
                  <a:srgbClr val="2A3441"/>
                </a:solidFill>
                <a:latin typeface="Aptos"/>
              </a:defRPr>
            </a:pPr>
            <a:r>
              <a:t>• Security: combine safe device handling, software updates, MFA, verified Wi‑Fi and user awareness training.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7382"/>
                </a:solidFill>
                <a:latin typeface="Aptos"/>
              </a:defRPr>
            </a:pPr>
            <a:r>
              <a:t>NORTHWEST ARCHITECTURE STUDIO  •  MINI PROJECTS 1–4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647382"/>
                </a:solidFill>
                <a:latin typeface="Aptos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62642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9848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2A3441"/>
                </a:solidFill>
                <a:latin typeface="Aptos"/>
              </a:defRPr>
            </a:pPr>
            <a:r>
              <a:t>• The four projects connect practical IT decisions with software design and cybersecurity awareness.</a:t>
            </a:r>
          </a:p>
          <a:p>
            <a:pPr>
              <a:spcAft>
                <a:spcPts val="800"/>
              </a:spcAft>
              <a:defRPr sz="1900" b="0">
                <a:solidFill>
                  <a:srgbClr val="2A3441"/>
                </a:solidFill>
                <a:latin typeface="Aptos"/>
              </a:defRPr>
            </a:pPr>
            <a:r>
              <a:t>• Project 1 plans role-appropriate workstations and uses SQL to report inventory and costs.</a:t>
            </a:r>
          </a:p>
          <a:p>
            <a:pPr>
              <a:spcAft>
                <a:spcPts val="800"/>
              </a:spcAft>
              <a:defRPr sz="1900" b="0">
                <a:solidFill>
                  <a:srgbClr val="2A3441"/>
                </a:solidFill>
                <a:latin typeface="Aptos"/>
              </a:defRPr>
            </a:pPr>
            <a:r>
              <a:t>• Project 2 applies decomposition, validation, arrays and reusable functions to an ordering problem.</a:t>
            </a:r>
          </a:p>
          <a:p>
            <a:pPr>
              <a:spcAft>
                <a:spcPts val="800"/>
              </a:spcAft>
              <a:defRPr sz="1900" b="0">
                <a:solidFill>
                  <a:srgbClr val="2A3441"/>
                </a:solidFill>
                <a:latin typeface="Aptos"/>
              </a:defRPr>
            </a:pPr>
            <a:r>
              <a:t>• Project 3 demonstrates LAN, routing, IP addressing, DNS and client-server communication.</a:t>
            </a:r>
          </a:p>
          <a:p>
            <a:pPr>
              <a:spcAft>
                <a:spcPts val="800"/>
              </a:spcAft>
              <a:defRPr sz="1900" b="0">
                <a:solidFill>
                  <a:srgbClr val="2A3441"/>
                </a:solidFill>
                <a:latin typeface="Aptos"/>
              </a:defRPr>
            </a:pPr>
            <a:r>
              <a:t>• Project 4 focuses on safer device use, stronger authentication and secure public Wi‑Fi habits.</a:t>
            </a:r>
          </a:p>
          <a:p>
            <a:pPr>
              <a:spcAft>
                <a:spcPts val="800"/>
              </a:spcAft>
              <a:defRPr sz="1900" b="0">
                <a:solidFill>
                  <a:srgbClr val="2A3441"/>
                </a:solidFill>
                <a:latin typeface="Aptos"/>
              </a:defRPr>
            </a:pPr>
            <a:r>
              <a:t>• Together, they show the value of reliable design, clear assumptions, testing and responsible technology use.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7382"/>
                </a:solidFill>
                <a:latin typeface="Aptos"/>
              </a:defRPr>
            </a:pPr>
            <a:r>
              <a:t>NORTHWEST ARCHITECTURE STUDIO  •  MINI PROJECTS 1–4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647382"/>
                </a:solidFill>
                <a:latin typeface="Aptos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62642"/>
                </a:solidFill>
                <a:latin typeface="Aptos"/>
              </a:defRPr>
            </a:pPr>
            <a:r>
              <a:t>References and source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9848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2A3441"/>
                </a:solidFill>
                <a:latin typeface="Aptos"/>
              </a:defRPr>
            </a:pPr>
            <a:r>
              <a:t>• Primary source materials: Mini Project 1 &amp; 3 markdown document; Team 1 Software Engineering Mini Project 2 PDF; MiniProject4 PDF.</a:t>
            </a:r>
          </a:p>
          <a:p>
            <a:pPr>
              <a:spcAft>
                <a:spcPts val="800"/>
              </a:spcAft>
              <a:defRPr sz="1900" b="0">
                <a:solidFill>
                  <a:srgbClr val="2A3441"/>
                </a:solidFill>
                <a:latin typeface="Aptos"/>
              </a:defRPr>
            </a:pPr>
            <a:r>
              <a:t>• Project 4 cites guidance from HSE, NCSC, GOV.UK, Electrical Safety First, WHO, FTC, CISA and NHS England, along with research on MFA and account-takeover prevention.</a:t>
            </a:r>
          </a:p>
          <a:p>
            <a:pPr>
              <a:spcAft>
                <a:spcPts val="800"/>
              </a:spcAft>
              <a:defRPr sz="1900" b="0">
                <a:solidFill>
                  <a:srgbClr val="2A3441"/>
                </a:solidFill>
                <a:latin typeface="Aptos"/>
              </a:defRPr>
            </a:pPr>
            <a:r>
              <a:t>• Figures and price values are based on the submitted project documents; several inconsistencies are flagged in this presentation rather than silently resolved.</a:t>
            </a:r>
          </a:p>
          <a:p>
            <a:pPr>
              <a:spcAft>
                <a:spcPts val="800"/>
              </a:spcAft>
              <a:defRPr sz="1900" b="0">
                <a:solidFill>
                  <a:srgbClr val="2A3441"/>
                </a:solidFill>
                <a:latin typeface="Aptos"/>
              </a:defRPr>
            </a:pPr>
            <a:r>
              <a:t>• Add team member names, tutor, date and any required institutional branding before presenting.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0789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647382"/>
                </a:solidFill>
                <a:latin typeface="Aptos"/>
              </a:defRPr>
            </a:pPr>
            <a:r>
              <a:t>NORTHWEST ARCHITECTURE STUDIO  •  MINI PROJECTS 1–4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647382"/>
                </a:solidFill>
                <a:latin typeface="Aptos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